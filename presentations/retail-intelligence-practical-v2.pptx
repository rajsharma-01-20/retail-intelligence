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45b9ad55084dcb" /><Relationship Type="http://schemas.openxmlformats.org/officeDocument/2006/relationships/extended-properties" Target="/docProps/app.xml" Id="Recb1770c3293439a" /><Relationship Type="http://schemas.openxmlformats.org/officeDocument/2006/relationships/officeDocument" Target="/ppt/presentation.xml" Id="Rfe45cd0b17d2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90f42446b4fe2"/>
  </p:sldMasterIdLst>
  <p:notesMasterIdLst>
    <p:notesMasterId xmlns:r="http://schemas.openxmlformats.org/officeDocument/2006/relationships" r:id="Rcccb8a3784664a58"/>
  </p:notesMasterIdLst>
  <p:sldIdLst>
    <p:sldId xmlns:r="http://schemas.openxmlformats.org/officeDocument/2006/relationships" id="256" r:id="R10e8fd7ca2914f51"/>
    <p:sldId xmlns:r="http://schemas.openxmlformats.org/officeDocument/2006/relationships" id="257" r:id="R0956e4da6fb745e8"/>
    <p:sldId xmlns:r="http://schemas.openxmlformats.org/officeDocument/2006/relationships" id="258" r:id="R53703731b9514a2c"/>
    <p:sldId xmlns:r="http://schemas.openxmlformats.org/officeDocument/2006/relationships" id="259" r:id="R00d8dca453d14686"/>
    <p:sldId xmlns:r="http://schemas.openxmlformats.org/officeDocument/2006/relationships" id="260" r:id="Rc92db2eddb1347c6"/>
    <p:sldId xmlns:r="http://schemas.openxmlformats.org/officeDocument/2006/relationships" id="261" r:id="R954414711e464424"/>
    <p:sldId xmlns:r="http://schemas.openxmlformats.org/officeDocument/2006/relationships" id="262" r:id="R629850ba291a45e3"/>
    <p:sldId xmlns:r="http://schemas.openxmlformats.org/officeDocument/2006/relationships" id="263" r:id="Rfa6c59e81fe946fd"/>
    <p:sldId xmlns:r="http://schemas.openxmlformats.org/officeDocument/2006/relationships" id="264" r:id="R85e7b50f110b4a6e"/>
    <p:sldId xmlns:r="http://schemas.openxmlformats.org/officeDocument/2006/relationships" id="265" r:id="R8db04a3851d140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eeab2195d48ae" /><Relationship Type="http://schemas.openxmlformats.org/officeDocument/2006/relationships/slideMaster" Target="/ppt/slideMasters/slideMaster1.xml" Id="R12590f42446b4fe2" /><Relationship Type="http://schemas.openxmlformats.org/officeDocument/2006/relationships/notesMaster" Target="/ppt/notesMasters/notesMaster1.xml" Id="Rcccb8a3784664a58" /><Relationship Type="http://schemas.openxmlformats.org/officeDocument/2006/relationships/presProps" Target="/ppt/presProps.xml" Id="Rc4e39dd639dd493c" /><Relationship Type="http://schemas.openxmlformats.org/officeDocument/2006/relationships/tableStyles" Target="/ppt/tableStyles.xml" Id="R4d5905ebfea041ed" /><Relationship Type="http://schemas.openxmlformats.org/officeDocument/2006/relationships/slide" Target="/ppt/slides/slide1.xml" Id="R10e8fd7ca2914f51" /><Relationship Type="http://schemas.openxmlformats.org/officeDocument/2006/relationships/slide" Target="/ppt/slides/slide2.xml" Id="R0956e4da6fb745e8" /><Relationship Type="http://schemas.openxmlformats.org/officeDocument/2006/relationships/slide" Target="/ppt/slides/slide3.xml" Id="R53703731b9514a2c" /><Relationship Type="http://schemas.openxmlformats.org/officeDocument/2006/relationships/slide" Target="/ppt/slides/slide4.xml" Id="R00d8dca453d14686" /><Relationship Type="http://schemas.openxmlformats.org/officeDocument/2006/relationships/slide" Target="/ppt/slides/slide5.xml" Id="Rc92db2eddb1347c6" /><Relationship Type="http://schemas.openxmlformats.org/officeDocument/2006/relationships/slide" Target="/ppt/slides/slide6.xml" Id="R954414711e464424" /><Relationship Type="http://schemas.openxmlformats.org/officeDocument/2006/relationships/slide" Target="/ppt/slides/slide7.xml" Id="R629850ba291a45e3" /><Relationship Type="http://schemas.openxmlformats.org/officeDocument/2006/relationships/slide" Target="/ppt/slides/slide8.xml" Id="Rfa6c59e81fe946fd" /><Relationship Type="http://schemas.openxmlformats.org/officeDocument/2006/relationships/slide" Target="/ppt/slides/slide9.xml" Id="R85e7b50f110b4a6e" /><Relationship Type="http://schemas.openxmlformats.org/officeDocument/2006/relationships/slide" Target="/ppt/slides/slide10.xml" Id="R8db04a3851d1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5869ebeb048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75427f91784de2" /><Relationship Type="http://schemas.openxmlformats.org/officeDocument/2006/relationships/notesMaster" Target="/ppt/notesMasters/notesMaster1.xml" Id="R92c095ad885741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bfed1414984bc4" /><Relationship Type="http://schemas.openxmlformats.org/officeDocument/2006/relationships/notesMaster" Target="/ppt/notesMasters/notesMaster1.xml" Id="Rba24afce27b34e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c559a4c224f52" /><Relationship Type="http://schemas.openxmlformats.org/officeDocument/2006/relationships/notesMaster" Target="/ppt/notesMasters/notesMaster1.xml" Id="R2169f7e3f9e0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97d9fdd5414616" /><Relationship Type="http://schemas.openxmlformats.org/officeDocument/2006/relationships/notesMaster" Target="/ppt/notesMasters/notesMaster1.xml" Id="R8b0f6c7e9e4243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4cd95350f4039" /><Relationship Type="http://schemas.openxmlformats.org/officeDocument/2006/relationships/notesMaster" Target="/ppt/notesMasters/notesMaster1.xml" Id="R5e2560d79c8942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32294ed1b04350" /><Relationship Type="http://schemas.openxmlformats.org/officeDocument/2006/relationships/notesMaster" Target="/ppt/notesMasters/notesMaster1.xml" Id="Rc96d55b3c9c3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e614541e145f1" /><Relationship Type="http://schemas.openxmlformats.org/officeDocument/2006/relationships/notesMaster" Target="/ppt/notesMasters/notesMaster1.xml" Id="Rf75e069a940e4c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c2f9614ed04d0a" /><Relationship Type="http://schemas.openxmlformats.org/officeDocument/2006/relationships/notesMaster" Target="/ppt/notesMasters/notesMaster1.xml" Id="Re6c68a1bfd49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1a1092f0964b0b" /><Relationship Type="http://schemas.openxmlformats.org/officeDocument/2006/relationships/notesMaster" Target="/ppt/notesMasters/notesMaster1.xml" Id="R9494b5efebc742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3dc82e3e247e9" /><Relationship Type="http://schemas.openxmlformats.org/officeDocument/2006/relationships/notesMaster" Target="/ppt/notesMasters/notesMaster1.xml" Id="R9c597075360640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“Retail Intelligence is a decision-support prototype that brings several common retail analyses into one workflow.”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Clarify that the sample file is synthetic and its patterns are intentionally seeded for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retail-intelligence/README.md; retail-intelligence/demo-retail-upload.csv.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around operational questions rather than starting with a list of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Avoid claiming measured business impact. The project offers analyses that could support these decisions; it does not automate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retail-intelligence/README.md; frontend/src/pages/OverviewPage.tsx.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user loads a dataset, the API validates and prepares it, Python engines compute results, and the React UI presents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backend uses FastAPI. The current dataset is processed in memory and persisted with SQLite and generated CSV/XLSX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retail-intelligence/backend/main.py; backend/database/database.py; backend/engine/processor.py; frontend/src/services/api.ts.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one sentence per module. The Overview combines headline KPIs, a revenue trend, top findings, product pairs, and store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relationships are computed from transaction baskets; store statuses use heuristic scores and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backend/engine/demand.py; backend/engine/detective.py; backend/engine/products.py; backend/engine/stores.py; frontend/src/pages/OverviewPage.tsx.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choose a product and store, set a date, then compare a no-promotion case with a promotion or discount case. Treat outputs as estimates.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uses an 80/20 random split and reports MAE, RMSE, and R². Rolling means are built before the split and include the current row, so evaluation can leak target/future information. The rolling averages are product-level rather than product-store-level. Do not present the metrics as production forecasting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stronger next version would use time-ordered validation and strictly past-only features. Unknown categorical IDs currently fall back to encoding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backend/engine/demand.py; frontend/src/pages/DemandPage.tsx.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drop beginning in Q4. In the uploaded sample, Kolkata South (S07) totals 374 units across Jan–Sep (41.6/month) and 47 units in Q4 (15.7/month), about 62% below the earlier monthly average. This pattern is deliberately planted.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detector checks fixed conditions and relative comparisons. Findings are triage signals; users should investigate causes.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retail-intelligence/demo-retail-upload.csv; backend/engine/generator.py; backend/engine/detective.py.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these as plausible use cases. The project does not measure uplift, inventory savings, or loss reduction.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product explorer computes pair co-occurrence, support, confidence, and lift. The store tool provides peer and trend comparisons. The demand tool forecasts units under user-specified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backend/engine/products.py; backend/engine/stores.py; backend/engine/demand.py; backend/engine/detective.py.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starting, confirm the API and frontend are running and the sample file is available. Uploading replaces the currently active dataset in the demo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narration: “I load a dataset, see where to look, inspect the evidence, compare a demand scenario, explore a product pair, and finish with a store comparison.”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short on time, prioritize Overview → Data Detective → Demand → Store Investigator.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frontend/src/pages/DatasetPage.tsx; frontend/src/pages/OverviewPage.tsx; frontend/src/pages/DetectivePage.tsx; frontend/src/pages/DemandPage.tsx; frontend/src/pages/StoresPage.tsx.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candid about the main methodological issue: demand features are computed before a random split, so rolling means can include information from the target row and future rows. This can make hold-out metrics optimistic.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generated demo covers historical dates in 2025; the forecast model does not prove performance on future periods or new stores/products.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 reports row count as “Transactions,” though generated baskets have multiple product line items. Distinguish 1,239 line items from 600 distinct transaction IDs when presenting the sample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backend/engine/demand.py; backend/engine/generator.py; backend/engine/main.py; retail-intelligence/demo-retail-upload.csv.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with: “This project does not replace a retail expert. It gives the team a faster way to find patterns and decide what to investigate next.”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questions about data flow, the Random Forest model, detector rules, basket metrics, or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implementation described in the speaker notes across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58a2682c7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3985414ab46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13e69f63840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876022b5a4d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9aaf58eb441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0c097e76e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080AA-12B6-4577-B57A-969B1FCEE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A1A320-C753-45FF-AAD9-45511A658C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0A0589-56BA-4E75-BA1C-D0EE11AAC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16E68C-B197-44D0-BFA1-9501C93D4E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C691DF-D019-4C17-B0D5-E4DD1818E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86E979-D014-4B3E-91D7-4D6C4231F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C745C6-BFED-4A1E-90DC-38BBC069F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953932-E70E-4815-9135-31F5B5055A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539860-70B8-4CEF-BF61-F3B218B363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EC1401-05CA-4E03-AA90-1AFE348F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d2fd030e4f4eef" /><Relationship Type="http://schemas.openxmlformats.org/officeDocument/2006/relationships/slideLayout" Target="/ppt/slideLayouts/slideLayout1.xml" Id="Rc9a89ac1a7034c0a" /><Relationship Type="http://schemas.openxmlformats.org/officeDocument/2006/relationships/slideLayout" Target="/ppt/slideLayouts/slideLayout2.xml" Id="R253654d46f1a4120" /><Relationship Type="http://schemas.openxmlformats.org/officeDocument/2006/relationships/slideLayout" Target="/ppt/slideLayouts/slideLayout3.xml" Id="R7e7492730ecb4696" /><Relationship Type="http://schemas.openxmlformats.org/officeDocument/2006/relationships/slideLayout" Target="/ppt/slideLayouts/slideLayout4.xml" Id="Rdcf689eee7e44445" /><Relationship Type="http://schemas.openxmlformats.org/officeDocument/2006/relationships/slideLayout" Target="/ppt/slideLayouts/slideLayout5.xml" Id="R78f31d76a8a243cd" /><Relationship Type="http://schemas.openxmlformats.org/officeDocument/2006/relationships/slideLayout" Target="/ppt/slideLayouts/slideLayout6.xml" Id="R9d9d80c88ddd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89ac1a7034c0a"/>
    <p:sldLayoutId xmlns:r="http://schemas.openxmlformats.org/officeDocument/2006/relationships" id="2147483650" r:id="R253654d46f1a4120"/>
    <p:sldLayoutId xmlns:r="http://schemas.openxmlformats.org/officeDocument/2006/relationships" id="2147483651" r:id="R7e7492730ecb4696"/>
    <p:sldLayoutId xmlns:r="http://schemas.openxmlformats.org/officeDocument/2006/relationships" id="2147483652" r:id="Rdcf689eee7e44445"/>
    <p:sldLayoutId xmlns:r="http://schemas.openxmlformats.org/officeDocument/2006/relationships" id="2147483653" r:id="R78f31d76a8a243cd"/>
    <p:sldLayoutId xmlns:r="http://schemas.openxmlformats.org/officeDocument/2006/relationships" id="2147483654" r:id="R9d9d80c88ddd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07ce33b814ab8" /><Relationship Type="http://schemas.openxmlformats.org/officeDocument/2006/relationships/notesSlide" Target="/ppt/notesSlides/notesSlide1.xml" Id="R9008bb8e77da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fcecf56774400" /><Relationship Type="http://schemas.openxmlformats.org/officeDocument/2006/relationships/notesSlide" Target="/ppt/notesSlides/notesSlide2.xml" Id="Rf621e13d8861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d7a2e768e44fa" /><Relationship Type="http://schemas.openxmlformats.org/officeDocument/2006/relationships/notesSlide" Target="/ppt/notesSlides/notesSlide3.xml" Id="Ra8d946809b304c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756ae72854ec4" /><Relationship Type="http://schemas.openxmlformats.org/officeDocument/2006/relationships/notesSlide" Target="/ppt/notesSlides/notesSlide4.xml" Id="R7f500df254644f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ba874ba9a42a5" /><Relationship Type="http://schemas.openxmlformats.org/officeDocument/2006/relationships/notesSlide" Target="/ppt/notesSlides/notesSlide5.xml" Id="R6e7656cde16e40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b56756ee04ac6" /><Relationship Type="http://schemas.openxmlformats.org/officeDocument/2006/relationships/chart" Target="/ppt/slides/charts/chart1.xml" Id="Ra435b11dd9f845f5" /><Relationship Type="http://schemas.openxmlformats.org/officeDocument/2006/relationships/notesSlide" Target="/ppt/notesSlides/notesSlide6.xml" Id="Rac61e5fb0085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7edf068c14732" /><Relationship Type="http://schemas.openxmlformats.org/officeDocument/2006/relationships/notesSlide" Target="/ppt/notesSlides/notesSlide7.xml" Id="R677f9f02af64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f67f10dd84c27" /><Relationship Type="http://schemas.openxmlformats.org/officeDocument/2006/relationships/notesSlide" Target="/ppt/notesSlides/notesSlide8.xml" Id="R195904c4b8e94f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accc9c4cc4f53" /><Relationship Type="http://schemas.openxmlformats.org/officeDocument/2006/relationships/notesSlide" Target="/ppt/notesSlides/notesSlide9.xml" Id="Rc5d0d1601a9f4b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0337623d44593" /><Relationship Type="http://schemas.openxmlformats.org/officeDocument/2006/relationships/notesSlide" Target="/ppt/notesSlides/notesSlide10.xml" Id="R73a82fc799554c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Kolkata South — monthly units sold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B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Units sold</c:v>
          </c:tx>
          <c:spPr>
            <a:solidFill xmlns:a="http://schemas.openxmlformats.org/drawingml/2006/main">
              <a:srgbClr val="39D3B0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44</c:v>
                </c:pt>
                <c:pt idx="1">
                  <c:v>47</c:v>
                </c:pt>
                <c:pt idx="2">
                  <c:v>40</c:v>
                </c:pt>
                <c:pt idx="3">
                  <c:v>44</c:v>
                </c:pt>
                <c:pt idx="4">
                  <c:v>41</c:v>
                </c:pt>
                <c:pt idx="5">
                  <c:v>27</c:v>
                </c:pt>
                <c:pt idx="6">
                  <c:v>34</c:v>
                </c:pt>
                <c:pt idx="7">
                  <c:v>73</c:v>
                </c:pt>
                <c:pt idx="8">
                  <c:v>24</c:v>
                </c:pt>
                <c:pt idx="9">
                  <c:v>22</c:v>
                </c:pt>
                <c:pt idx="10">
                  <c:v>15</c:v>
                </c:pt>
                <c:pt idx="11">
                  <c:v>10</c:v>
                </c:pt>
              </c:numCache>
            </c:numRef>
          </c:val>
        </c:ser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AEB9C9"/>
                    </a:solidFill>
                    <a:latin typeface="Arial"/>
                    <a:ea typeface="Arial"/>
                    <a:cs typeface="Arial"/>
                  </a:rPr>
                  <a:t>Month (2025)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AEB9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34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34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AEB9C9"/>
                    </a:solidFill>
                    <a:latin typeface="Arial"/>
                    <a:ea typeface="Arial"/>
                    <a:cs typeface="Arial"/>
                  </a:rPr>
                  <a:t>Units sold (line items)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AEB9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B1220"/>
        </a:solidFill>
        <a:ln xmlns:a="http://schemas.openxmlformats.org/drawingml/2006/main" w="0">
          <a:solidFill>
            <a:srgbClr val="0B1220"/>
          </a:solidFill>
          <a:prstDash val="solid"/>
        </a:ln>
      </c:spPr>
    </c:plotArea>
    <c:plotVisOnly val="1"/>
  </c:chart>
  <c:spPr>
    <a:solidFill xmlns:a="http://schemas.openxmlformats.org/drawingml/2006/main">
      <a:srgbClr val="0B1220"/>
    </a:solidFill>
    <a:ln xmlns:a="http://schemas.openxmlformats.org/drawingml/2006/main" w="0">
      <a:solidFill>
        <a:srgbClr val="0B122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ail">
            <a:extLst xmlns:a="http://schemas.openxmlformats.org/drawingml/2006/main">
              <a:ext uri="{FF2B5EF4-FFF2-40B4-BE49-F238E27FC236}">
                <a16:creationId xmlns:a16="http://schemas.microsoft.com/office/drawing/2014/main" id="{EBDB6B73-A4FA-496A-9616-836F190D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3801C-97D2-468B-A56F-73BF8E0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DATA SCIENCE · RETAIL OPERATIONS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7487D6-41BC-479C-B52B-E360076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715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Retail</a:t>
            </a:r>
          </a:p>
          <a:p xmlns:a="http://schemas.openxmlformats.org/drawingml/2006/main">
            <a:pPr algn="l">
              <a:defRPr sz="5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B1312-E116-4001-8E44-045CB4A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Turn sales records into clearer questions</a:t>
            </a:r>
          </a:p>
          <a:p xmlns:a="http://schemas.openxmlformats.org/drawingml/2006/main">
            <a:pPr algn="l">
              <a:defRPr sz="210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for planners, merchandisers, and store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1680A-059C-4576-A380-FA45AF3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C5F03-68E1-4C53-9077-1A282A2E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PRACTICAL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A90A1-0DCC-4346-BCE1-AD1432B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Synthetic demo dataset · 1,239 line items · 600 baskets · 8 stores · 10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4DC60-2298-4BE5-A31F-A2357E35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D8AA0"/>
                </a:solidFill>
                <a:latin typeface="Arial"/>
                <a:ea typeface="Arial"/>
                <a:cs typeface="Arial"/>
              </a:rPr>
              <a:t>Decision support prototype</a:t>
            </a:r>
          </a:p>
        </p:txBody>
      </p:sp>
    </p:spTree>
    <p:extLst>
      <p:ext uri="{BB962C8B-B14F-4D97-AF65-F5344CB8AC3E}">
        <p14:creationId xmlns:p14="http://schemas.microsoft.com/office/powerpoint/2010/main" val="969591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5D068DB-617E-43B5-B475-983BCFD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5B0E0-7B1C-4EAD-A1F1-82EEE8D7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A2C936-BC66-49AD-B639-6CA0048A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Retail data hides useful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6ECE4-9192-4667-AE60-CFF06216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Three recurring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FC21E-2B4D-437B-85A0-EA0DF29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A9B47-BA81-4F9E-B231-3EDB1EE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should we stock?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E02D-A8A8-45BE-94C6-BAAF4D5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Demand changes by product, location, season, and promotion.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EE675-9C43-408D-AD44-CC3E5FC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40ADF-9A7D-4C7E-810E-CAB512B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DB405-F5E2-40A6-A3F4-DB4C0AC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needs investigation?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F6FDB-72EC-4368-B5FE-E819AECC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Sales drops, unusual returns, discounts, and inventory risks can hide in large datasets.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135BD-50F4-45BF-AB73-2618E85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EB3B7-9359-419B-9C8E-3797040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279DB-DCBF-4DE6-B2AA-C6D7094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could sell together?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4DD5C-B99A-4AB2-8165-4CE62FC9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Basket patterns can suggest products worth testing as bundles or nearby placements.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3D6DC-C112-43CD-8366-6E3DBBD8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34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3A936-61C5-4CA1-81A2-C682F47F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The app helps users prioritize what to inspect next; people still make the business decision.</a:t>
            </a:r>
          </a:p>
        </p:txBody>
      </p:sp>
    </p:spTree>
    <p:extLst>
      <p:ext uri="{BB962C8B-B14F-4D97-AF65-F5344CB8AC3E}">
        <p14:creationId xmlns:p14="http://schemas.microsoft.com/office/powerpoint/2010/main" val="980493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D405F7F-E8C6-4E6F-9374-252E702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D650-D5DA-4A41-A446-49A6778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22748-D334-4363-9021-40C66AB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One dataset feeds four analysis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D95F-5A2F-478C-8690-6E28DCC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2B7C-29EA-43E6-B9FE-A0FBB582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Load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F4B90-4CCA-47FC-94C0-2DC2535A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CDDBD-8AC7-4A9B-AAC2-CABFDAD9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Generate demo records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or upload CSV / 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1853B-E63D-4800-A72B-E3B15961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1A8E-ED7D-4519-85AB-B6AAEE7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2B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F583E-871E-4266-BB2A-8874CFF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9BBD6-A8D2-4E17-80FF-54F19F82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3DC36-502D-4FF2-BE4A-A566603F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Validate required fields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and calculate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3ECF7-CED8-4CA1-83CA-9468379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14087-DA88-4C49-9743-9D311D28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B77BA-2E57-4018-BB2F-2A36270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32CA9-6A9D-4B71-9AEB-3D4505C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A25A0-0B70-4FC4-BB64-FAC6EA0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Pandas summaries,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Random Forest, rule checks,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basket co-occurrence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04C9C-7C61-441C-9DA3-6966A218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4ADE2-9D5A-4FDC-BD0A-C1F806DB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BD196-AB5E-4589-AA20-CDA4EF5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A7B97-278E-43F1-B0D3-A1416B34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4B78B-EF90-4FCF-BD8A-1B43C3F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Charts, findings, estimates,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and store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B1103-E7A7-4891-BD5A-F0562EFC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798FB-4A93-422A-8B50-FCF9F98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3375C-29CF-421C-A124-E550E3D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0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FastAPI + Python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105A1-8CEF-4F99-97C8-4D9C5D8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0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Pandas · NumPy · scikit-learn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6F31F-B834-4150-8354-5B8FF10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00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SQLite + CSV / Excel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6D99D-F97F-4B59-919F-5082B7E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Analysis runs in response to dashboard requests; SQLite stores dataset metadata and cached results.</a:t>
            </a:r>
          </a:p>
        </p:txBody>
      </p:sp>
    </p:spTree>
    <p:extLst>
      <p:ext uri="{BB962C8B-B14F-4D97-AF65-F5344CB8AC3E}">
        <p14:creationId xmlns:p14="http://schemas.microsoft.com/office/powerpoint/2010/main" val="944232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FF15135-226E-4872-8B31-43E87DB4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B823E-A1AF-4A1C-B509-FB5EAC59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WHAT THE APP DOES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22D985-D680-4C3E-9C64-540095AE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Four analyses answer different retail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37802-A6BF-432D-8D2D-17C29AA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81EE9-71EE-472E-B357-DC9BE3F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Summarizes trends and estimates product units for a selected store, date, price, and promotion.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01F76-4E5E-47AE-8064-EA7FCE6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Data Detective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7BD20-7D8D-4BC0-836A-CA5B5A2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Flags unusual changes in revenue, units, returns, discounts, category trends, inventory, and data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5C3F5-ADBA-4BD0-824E-AA3ED8D0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2B7FF"/>
                </a:solidFill>
                <a:latin typeface="Arial"/>
                <a:ea typeface="Arial"/>
                <a:cs typeface="Arial"/>
              </a:rPr>
              <a:t>Product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3391-5182-4415-9387-40F3D9D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Finds items appearing in the same transaction basket and ranks product pairs by co-purchase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E587-AE14-46B3-A074-4B859BF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Store Investigator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F5BE0-F43E-4A3C-ADFF-4D30563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Compares stores with peers and their own earlier performance, then surfaces key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0CE66-6D9E-4A63-9233-C4FC324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081B2-B507-40F2-B232-CD880134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Together, the modules move from “what changed?” to “where should we look?”</a:t>
            </a:r>
          </a:p>
        </p:txBody>
      </p:sp>
    </p:spTree>
    <p:extLst>
      <p:ext uri="{BB962C8B-B14F-4D97-AF65-F5344CB8AC3E}">
        <p14:creationId xmlns:p14="http://schemas.microsoft.com/office/powerpoint/2010/main" val="1429545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D2703EA-E529-4448-99B7-ED65F03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6BD4F-A8AA-4E53-B415-9C4FB20D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10FC1C-534A-4D25-A5DE-60FA4FF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Demand estimation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AF300-254D-4AEC-A97E-87F0AA92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User supplies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22E56-5942-4471-B652-3DD2FFB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 · store · date</a:t>
            </a:r>
          </a:p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Price · discount · 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73DD0-96CC-445F-86E3-95234FC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D8AA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D8AA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6B3AA-C745-4FC3-A058-C351BDE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Random Forest Regressor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76BE6-B1D3-4887-8192-DA19536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87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80 trees · depth limited to 12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Calendar, product/store, price and recent-demand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93573-65FD-4F45-AF20-4504139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A5E2-A2F2-404D-ABE6-39FAC04C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2B7FF"/>
                </a:solidFill>
                <a:latin typeface="Arial"/>
                <a:ea typeface="Arial"/>
                <a:cs typeface="Arial"/>
              </a:rPr>
              <a:t>What the UI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95824-5FCB-42B8-B73F-C74B44C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Predicted 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269D5-BD33-4F40-8945-7052F77D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A low–high range from variation across the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5E406-8187-4D07-B849-0674685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MAE · RMSE ·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465D3-D192-4992-A934-86961D8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Evaluation metrics on a random 20% hold-out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E2952-3B0C-4028-9D85-073FCD71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3F5E1-238A-42CA-B123-86063C2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Use it to compare scenarios; validate accuracy with time-based testing and real sales history.</a:t>
            </a:r>
          </a:p>
        </p:txBody>
      </p:sp>
    </p:spTree>
    <p:extLst>
      <p:ext uri="{BB962C8B-B14F-4D97-AF65-F5344CB8AC3E}">
        <p14:creationId xmlns:p14="http://schemas.microsoft.com/office/powerpoint/2010/main" val="449597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ail">
            <a:extLst xmlns:a="http://schemas.openxmlformats.org/drawingml/2006/main">
              <a:ext uri="{FF2B5EF4-FFF2-40B4-BE49-F238E27FC236}">
                <a16:creationId xmlns:a16="http://schemas.microsoft.com/office/drawing/2014/main" id="{4AE0E4E2-032E-4E21-8B5F-A4F1BFBC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71E77-F1D9-4EBE-854D-0D5B08F7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A564B7-A313-477D-9EC1-0301A6CD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Rule-based anomaly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909CC-08C5-457B-A974-2B93C098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EB9C9"/>
                </a:solidFill>
                <a:latin typeface="Arial"/>
                <a:ea typeface="Arial"/>
                <a:cs typeface="Arial"/>
              </a:rPr>
              <a:t>Example from the synthetic upload file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1D6CA70-1565-4E36-8E87-B1EA4B9BB702}"/>
              </a:ext>
            </a:extLst>
          </p:cNvPr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67437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5b11dd9f845f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50998-4D6C-4B3C-B8A6-86D6F975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>
            <a:def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Q4 average: 15.7 units/month</a:t>
            </a:r>
          </a:p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Jan–Sep average: 41.6</a:t>
            </a:r>
          </a:p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62% lower in Q4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27EDD-FA41-4740-9462-7DCABA60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This decline was intentionally seeded in the demo data. It is a test pattern, not a real retail finding.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1A38-3C35-49D4-A2C6-8B64EC5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Other seeded examples: P001 demand spike in early October; S04 discount set to 45% in September.</a:t>
            </a:r>
          </a:p>
        </p:txBody>
      </p:sp>
    </p:spTree>
    <p:extLst>
      <p:ext uri="{BB962C8B-B14F-4D97-AF65-F5344CB8AC3E}">
        <p14:creationId xmlns:p14="http://schemas.microsoft.com/office/powerpoint/2010/main" val="366023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254A77A-ED8F-44DC-99B9-39F3EE6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0BFF4-5A41-40B9-B74A-0242312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RETAIL USE CASES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7D86E7-17FB-41E1-8943-7BA1DD8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Use the findings to choose the next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A6E09-CB48-491A-9D6C-AF6B4683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2B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2B7FF"/>
                </a:solidFill>
                <a:latin typeface="Arial"/>
                <a:ea typeface="Arial"/>
                <a:cs typeface="Arial"/>
              </a:rPr>
              <a:t>Merchandising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85A6E-08A8-4864-BC5A-A2E295B1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Inspect products that co-occur in baskets. Test a bundle or nearby placement, then measure the result in real sales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A54B7-43A0-41BB-82C4-A9C805F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14D3-6D2C-43BA-A52D-D860758A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Store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C7923-50F9-4AC8-BCA3-973AF0F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Use peer comparisons and recent trends to decide which store or category deserves a closer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FFDE7-6B13-46EE-9B68-48347B0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A27DE-6B97-4FBD-ACD2-AC5D58D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Demand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9BAE5-2ECB-4551-9289-B0547F2E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Compare demand estimates under different promotion, discount, and date assumptions before planning inventory.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DB156-9977-4E23-A3A1-7EFE678C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5FFD5-C13F-4836-B61F-285D158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Exception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50FCC-C5B1-456D-9867-7C3F7730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Review unusual sales, return, discount, inventory, and data-quality patterns before they are missed in manual checks.</a:t>
            </a:r>
          </a:p>
        </p:txBody>
      </p:sp>
    </p:spTree>
    <p:extLst>
      <p:ext uri="{BB962C8B-B14F-4D97-AF65-F5344CB8AC3E}">
        <p14:creationId xmlns:p14="http://schemas.microsoft.com/office/powerpoint/2010/main" val="428574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rail">
            <a:extLst xmlns:a="http://schemas.openxmlformats.org/drawingml/2006/main">
              <a:ext uri="{FF2B5EF4-FFF2-40B4-BE49-F238E27FC236}">
                <a16:creationId xmlns:a16="http://schemas.microsoft.com/office/drawing/2014/main" id="{8C12D5FA-965B-46EF-AFDF-71B87FE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82FAD-6936-41EC-AB09-54469047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LIVE WALKTHROUGH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221D3-BF6C-4B8B-97CE-56194E6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84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Practical demo: show one story from data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7122-1524-4ECF-9FEC-7E94BE8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CFDCA-B6B8-4F53-86B9-E85FFC88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04810-B8D2-4E44-925A-6721CF44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982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64267-1888-43AE-A8E3-CB837A1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28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Dataset → Upload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Select demo-retail-upload.csv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8F9B8-E376-401C-BE06-0F3DB97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FE521-0EC7-47D8-A874-889F2011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6AC6-7644-48AB-9F37-EF334C7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982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2A1B3-0FFE-4A6F-8B9C-4181B654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Overview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Read KPIs and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CB67E-5F47-40F3-80EF-B5573FDC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715BD-EF44-49F2-8573-EA25A64C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E2E23-B191-4AC5-9099-ACB23A8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982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2EFE0-4A3D-4714-B8E1-3B54645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908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Data Detective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Expand a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B539B-EAE9-4EC4-A52B-4F3370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692BB-A8A6-4ED5-809E-7788B87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48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87523-725A-4C8C-9002-D611627D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D1FD7-DAF9-4015-9627-07F35F2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Demand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Run two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25D86-C73B-4798-BAD4-1AD382EF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1D917-8CD8-4709-ADB6-4E108336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F4B18-F334-4C44-BA20-81F413C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9577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D5F14-AA76-4C3C-AEB3-FB84032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Product Explorer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Show a basket 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29CBF-2637-4A49-81BE-071D02E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C46E0-801B-43D3-9FEB-FF4B5C1E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467E2-3479-4112-AA3B-C563AAC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95775"/>
            <a:ext cx="260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B9FB4-74B8-4C0C-BDE6-B5EBBE1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Store Investigator</a:t>
            </a:r>
          </a:p>
          <a:p xmlns:a="http://schemas.openxmlformats.org/drawingml/2006/main">
            <a:pPr algn="l">
              <a:defRPr sz="1725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Compare peers and trend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CE5BE-4042-44E4-B0C6-1264782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Narrate the question each page answers; don’t read every KPI aloud.</a:t>
            </a:r>
          </a:p>
        </p:txBody>
      </p:sp>
    </p:spTree>
    <p:extLst>
      <p:ext uri="{BB962C8B-B14F-4D97-AF65-F5344CB8AC3E}">
        <p14:creationId xmlns:p14="http://schemas.microsoft.com/office/powerpoint/2010/main" val="67602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114A3E3-277E-4587-8842-D00FF7A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AC56B-BC70-4F4C-8E55-73E9131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LIMITS AND NEXT STEPS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FDAF15-BD12-421D-9DE6-CFFEAEF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What to improve before operational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CB775-8AFB-4EDB-9B1C-163FC00B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40AE7-22D7-44F5-8A8E-28C23AA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Validate against representative, current retail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1F3E3-1C9F-4614-AA43-945199E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D7DF-E49A-4AE1-BB94-36AEC09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8B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8B72"/>
                </a:solidFill>
                <a:latin typeface="Arial"/>
                <a:ea typeface="Arial"/>
                <a:cs typeface="Arial"/>
              </a:rPr>
              <a:t>Forecast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0D617-E0B7-4336-AFAE-E2B2FDE1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Use time-based splits and strictly past-only features; report performance by product and store.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EF9FA-577A-4F0D-BAEB-661A977F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6C7B4-F9C9-4B01-BA44-3FDE18B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Heuristic alerts and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E811-86F8-499B-9D38-EB75F9A4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Tune thresholds with business owners; track false alarms and missed issues.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4E303-1B66-4802-B8CA-7BBD9BB8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91C19-C74D-4859-B28E-4121A13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Data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B0CDA-3804-40D3-B8C4-35D154A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stronger type, date, ID, and transaction-level 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CEA44-86E1-4B05-A9CE-E391F77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8AB20-8459-43BB-AA1B-ACC927F2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Current role: a working analytics prototype and presentation demo—not an automated replenishment or pricing system.</a:t>
            </a:r>
          </a:p>
        </p:txBody>
      </p:sp>
    </p:spTree>
    <p:extLst>
      <p:ext uri="{BB962C8B-B14F-4D97-AF65-F5344CB8AC3E}">
        <p14:creationId xmlns:p14="http://schemas.microsoft.com/office/powerpoint/2010/main" val="1018435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35C7B43-92F4-439B-970E-0C55518F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3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5A1CE-FCC0-4D6D-866A-0C3316C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9D3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D3B0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D1CCA-EDB7-4735-A092-5C54D41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810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5"/>
          </a:bodyPr>
          <a:lstStyle xmlns:a="http://schemas.openxmlformats.org/drawingml/2006/main">
            <a:defPPr algn="l">
              <a:defRPr sz="37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Retail Intelligence brings demand estimates, anomaly checks, basket patterns, and store comparisons into one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5A94D-1DAC-41D4-9A90-E73D8FF6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49F5B-A65C-478E-872A-CFF2C749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EB9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EB9C9"/>
                </a:solidFill>
                <a:latin typeface="Arial"/>
                <a:ea typeface="Arial"/>
                <a:cs typeface="Arial"/>
              </a:rPr>
              <a:t>It helps a retail team decide what to investigate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A2E23-78C9-4385-AC45-2CCBD9A0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2C76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C76E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465987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2026-10-13T08:17:05.2140000Z</dcterms:created>
  <dcterms:modified xsi:type="dcterms:W3CDTF">2026-10-13T08:17:05.2140000Z</dcterms:modified>
</coreProperties>
</file>